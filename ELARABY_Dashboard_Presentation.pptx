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0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5029200" cy="5029200"/>
          </a:xfrm>
          <a:prstGeom prst="ellipse">
            <a:avLst/>
          </a:prstGeom>
          <a:solidFill>
            <a:srgbClr val="1E3F72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389120"/>
            <a:ext cx="4114800" cy="4114800"/>
          </a:xfrm>
          <a:prstGeom prst="ellipse">
            <a:avLst/>
          </a:prstGeom>
          <a:solidFill>
            <a:srgbClr val="F0A93C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0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PORTFOLIO PROJECT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&amp; Profitability Dashboard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Appliance Retail Analytics — ELARABY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114800"/>
            <a:ext cx="1280160" cy="0"/>
          </a:xfrm>
          <a:prstGeom prst="line">
            <a:avLst/>
          </a:prstGeom>
          <a:noFill/>
          <a:ln w="38100">
            <a:solidFill>
              <a:srgbClr val="F0A9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3434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EC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single-page Power BI dashboard tracking sales, quantity, profit margin, and order volume across stores and regions for a home appliance retail business.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Sameh El-Hosary  |  Data Analyst &amp; Business Intelligence Analyst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3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live view of retail performance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6305C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40280"/>
            <a:ext cx="685800" cy="685800"/>
          </a:xfrm>
          <a:prstGeom prst="ellipse">
            <a:avLst/>
          </a:prstGeom>
          <a:solidFill>
            <a:srgbClr val="F0A93C"/>
          </a:solidFill>
          <a:ln/>
        </p:spPr>
      </p:sp>
      <p:pic>
        <p:nvPicPr>
          <p:cNvPr id="6" name="Image 0" descr="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558" y="2315718"/>
            <a:ext cx="534924" cy="5349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1089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Problem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3520440"/>
            <a:ext cx="2880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needed a single, up-to-date view of sales performance across regions, categories, and stores instead of scattered manual reports.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0" y="192024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6305C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00600" y="2240280"/>
            <a:ext cx="685800" cy="685800"/>
          </a:xfrm>
          <a:prstGeom prst="ellipse">
            <a:avLst/>
          </a:prstGeom>
          <a:solidFill>
            <a:srgbClr val="F0A93C"/>
          </a:solidFill>
          <a:ln/>
        </p:spPr>
      </p:sp>
      <p:pic>
        <p:nvPicPr>
          <p:cNvPr id="11" name="Image 1" descr="icons/ba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038" y="2315718"/>
            <a:ext cx="534924" cy="5349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00600" y="31089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800600" y="3520440"/>
            <a:ext cx="2880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revenue, quantity, profit margin, and order volume in one interactive Power BI dashboard for fast, data-driven decisions.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321040" y="192024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6305C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41080" y="2240280"/>
            <a:ext cx="685800" cy="685800"/>
          </a:xfrm>
          <a:prstGeom prst="ellipse">
            <a:avLst/>
          </a:prstGeom>
          <a:solidFill>
            <a:srgbClr val="F0A93C"/>
          </a:solidFill>
          <a:ln/>
        </p:spPr>
      </p:sp>
      <p:pic>
        <p:nvPicPr>
          <p:cNvPr id="16" name="Image 2" descr="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6518" y="2315718"/>
            <a:ext cx="534924" cy="5349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41080" y="310896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Audience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641080" y="3520440"/>
            <a:ext cx="2880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retail management to monitor performance by category, store, region, and time period at a glance.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1430000" y="63550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30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with a modern BI toolchain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1E3F72">
              <a:alpha val="8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11680"/>
            <a:ext cx="731520" cy="731520"/>
          </a:xfrm>
          <a:prstGeom prst="ellipse">
            <a:avLst/>
          </a:prstGeom>
          <a:solidFill>
            <a:srgbClr val="F0A93C"/>
          </a:solidFill>
          <a:ln/>
        </p:spPr>
      </p:sp>
      <p:pic>
        <p:nvPicPr>
          <p:cNvPr id="6" name="Image 0" descr="icons/to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9147" y="2092147"/>
            <a:ext cx="570586" cy="5705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92024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 &amp; Service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480560" y="16916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1E3F72">
              <a:alpha val="8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4709160" y="2011680"/>
            <a:ext cx="731520" cy="731520"/>
          </a:xfrm>
          <a:prstGeom prst="ellipse">
            <a:avLst/>
          </a:prstGeom>
          <a:solidFill>
            <a:srgbClr val="F0A93C"/>
          </a:solidFill>
          <a:ln/>
        </p:spPr>
      </p:sp>
      <p:pic>
        <p:nvPicPr>
          <p:cNvPr id="10" name="Image 1" descr="icons/per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627" y="2092147"/>
            <a:ext cx="570586" cy="57058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77840" y="192024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— Revenue, Profit Margin %, AOV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321040" y="16916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1E3F72">
              <a:alpha val="80000"/>
            </a:srgbClr>
          </a:solidFill>
          <a:ln/>
        </p:spPr>
      </p:sp>
      <p:sp>
        <p:nvSpPr>
          <p:cNvPr id="13" name="Shape 9"/>
          <p:cNvSpPr/>
          <p:nvPr/>
        </p:nvSpPr>
        <p:spPr>
          <a:xfrm>
            <a:off x="8549640" y="2011680"/>
            <a:ext cx="731520" cy="731520"/>
          </a:xfrm>
          <a:prstGeom prst="ellipse">
            <a:avLst/>
          </a:prstGeom>
          <a:solidFill>
            <a:srgbClr val="F0A93C"/>
          </a:solidFill>
          <a:ln/>
        </p:spPr>
      </p:sp>
      <p:pic>
        <p:nvPicPr>
          <p:cNvPr id="14" name="Image 2" descr="icons/activit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0107" y="2092147"/>
            <a:ext cx="570586" cy="57058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418320" y="192024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(M) for data prep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40080" y="3429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A9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Approach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640080" y="3977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A9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18" name="Text 13"/>
          <p:cNvSpPr/>
          <p:nvPr/>
        </p:nvSpPr>
        <p:spPr>
          <a:xfrm>
            <a:off x="640080" y="454456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40080" y="4892040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EC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and transformed raw sales transaction data using Power Query into a star-schema-friendly model.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3474720" y="3977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A9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21" name="Text 16"/>
          <p:cNvSpPr/>
          <p:nvPr/>
        </p:nvSpPr>
        <p:spPr>
          <a:xfrm>
            <a:off x="3474720" y="454456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3474720" y="4892040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EC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DAX measures for revenue, profit margin %, average order value, and quantity.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309360" y="3977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A9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24" name="Text 19"/>
          <p:cNvSpPr/>
          <p:nvPr/>
        </p:nvSpPr>
        <p:spPr>
          <a:xfrm>
            <a:off x="6309360" y="454456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Design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6309360" y="4892040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EC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 single-page layout combining KPI cards, trend charts, and category-level profitability visuals.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9144000" y="3977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A9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7" name="Text 22"/>
          <p:cNvSpPr/>
          <p:nvPr/>
        </p:nvSpPr>
        <p:spPr>
          <a:xfrm>
            <a:off x="9144000" y="454456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Interactivity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9144000" y="4892040"/>
            <a:ext cx="2606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AEC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slicers for category, store, year, and month for stakeholder drill-down.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11430000" y="63550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WALKTHROUGH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3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KPIs &amp; Sales Trends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28016" cy="128016"/>
          </a:xfrm>
          <a:prstGeom prst="ellipse">
            <a:avLst/>
          </a:prstGeom>
          <a:solidFill>
            <a:srgbClr val="F0A93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27048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KPI cards at the top: Total Revenue, Quantity, Average Order Value, Profit Margin %, and Total Orders.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128016" cy="128016"/>
          </a:xfrm>
          <a:prstGeom prst="ellipse">
            <a:avLst/>
          </a:prstGeom>
          <a:solidFill>
            <a:srgbClr val="F0A93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95728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Profit by Month — dual-line chart comparing monthly revenue against profit.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128016" cy="128016"/>
          </a:xfrm>
          <a:prstGeom prst="ellipse">
            <a:avLst/>
          </a:prstGeom>
          <a:solidFill>
            <a:srgbClr val="F0A93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264408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Sales trend chart tracking day-by-day fluctuation within the month.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251960"/>
            <a:ext cx="128016" cy="128016"/>
          </a:xfrm>
          <a:prstGeom prst="ellipse">
            <a:avLst/>
          </a:prstGeom>
          <a:solidFill>
            <a:srgbClr val="F0A93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133088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for Year, Month, Category, and Store Name drive every visual.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16168" y="612648"/>
            <a:ext cx="5769864" cy="3508805"/>
          </a:xfrm>
          <a:prstGeom prst="roundRect">
            <a:avLst>
              <a:gd name="adj" fmla="val 20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16305C">
                <a:alpha val="20000"/>
              </a:srgbClr>
            </a:outerShdw>
          </a:effectLst>
        </p:spPr>
      </p:sp>
      <p:pic>
        <p:nvPicPr>
          <p:cNvPr id="13" name="Image 0" descr="images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685800"/>
            <a:ext cx="5623560" cy="3362501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430000" y="63550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WALKTHROUGH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630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Regional &amp; Category Breakdown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28016" cy="128016"/>
          </a:xfrm>
          <a:prstGeom prst="ellipse">
            <a:avLst/>
          </a:prstGeom>
          <a:solidFill>
            <a:srgbClr val="F0A93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18488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performance — quantity sold across 8 regions (Luxor, Zagazig, Minya, Sohag, Port Said, Tanta, Alexandria, Assiut).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128016" cy="128016"/>
          </a:xfrm>
          <a:prstGeom prst="ellipse">
            <a:avLst/>
          </a:prstGeom>
          <a:solidFill>
            <a:srgbClr val="F0A93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87168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Product-level ranking — top-selling products (air conditioners, refrigerators, washing machines, TVs, cookers).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474720"/>
            <a:ext cx="128016" cy="128016"/>
          </a:xfrm>
          <a:prstGeom prst="ellipse">
            <a:avLst/>
          </a:prstGeom>
          <a:solidFill>
            <a:srgbClr val="F0A93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355848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by Category — donut chart comparing margin % across 5 categories.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343400"/>
            <a:ext cx="128016" cy="128016"/>
          </a:xfrm>
          <a:prstGeom prst="ellipse">
            <a:avLst/>
          </a:prstGeom>
          <a:solidFill>
            <a:srgbClr val="F0A93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224528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by Category — treemap showing each category's contribution to total sales.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16168" y="612648"/>
            <a:ext cx="5769864" cy="3508805"/>
          </a:xfrm>
          <a:prstGeom prst="roundRect">
            <a:avLst>
              <a:gd name="adj" fmla="val 20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16305C">
                <a:alpha val="20000"/>
              </a:srgbClr>
            </a:outerShdw>
          </a:effectLst>
        </p:spPr>
      </p:sp>
      <p:pic>
        <p:nvPicPr>
          <p:cNvPr id="13" name="Image 0" descr="images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685800"/>
            <a:ext cx="5623560" cy="3362501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430000" y="63550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30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solidFill>
            <a:srgbClr val="1E3F72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4572000" cy="4572000"/>
          </a:xfrm>
          <a:prstGeom prst="ellipse">
            <a:avLst/>
          </a:prstGeom>
          <a:solidFill>
            <a:srgbClr val="F0A93C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single source of truth for retail.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AEC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dashboard replaces scattered manual reporting with one live, interactive view of sales, profitability, and regional performance — giving management the KPIs they need in seconds.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3794760"/>
            <a:ext cx="1280160" cy="0"/>
          </a:xfrm>
          <a:prstGeom prst="line">
            <a:avLst/>
          </a:prstGeom>
          <a:noFill/>
          <a:ln w="38100">
            <a:solidFill>
              <a:srgbClr val="F0A9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1148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Sameh El-Hosary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4526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C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&amp; Business Intelligence Analyst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linkedin.com/in/sameh-el-hosary-   ·   github.com/SamehElhosary0   ·   sameh.sabry656@gmail.com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2026-07-10T22:30:07Z</dcterms:created>
  <dcterms:modified xsi:type="dcterms:W3CDTF">2026-07-10T22:30:07Z</dcterms:modified>
</cp:coreProperties>
</file>